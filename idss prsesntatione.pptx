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4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C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05" autoAdjust="0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9" y="1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03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24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93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078992"/>
            <a:ext cx="5669280" cy="353872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078992"/>
            <a:ext cx="91440" cy="3538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IDSS·  AIE424  ·  SPRING 2025–2026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228599" y="1675051"/>
            <a:ext cx="5303520" cy="127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AI-Driven Framework for</a:t>
            </a:r>
            <a:endParaRPr lang="en-US" sz="2000" dirty="0"/>
          </a:p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Diagnostics &amp; Pharmaceutical Decision Support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28599" y="3200400"/>
            <a:ext cx="4618529" cy="45719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06440" y="1280160"/>
            <a:ext cx="3154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06440" y="1234440"/>
            <a:ext cx="315468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0" y="15727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943600" y="1920240"/>
            <a:ext cx="2834640" cy="1828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42449" y="1938528"/>
            <a:ext cx="3072952" cy="253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 Mohamed Rady                            222200004</a:t>
            </a:r>
            <a:b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 Mohamed Elsayed Nagy             222200002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 Omar Saeed                                   222101064</a:t>
            </a:r>
            <a:b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 Aser Mohamed Ali                        222102487</a:t>
            </a:r>
            <a:b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 Mostafa Mahmoud                       222101612</a:t>
            </a:r>
            <a:endParaRPr 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BC735C-5B66-B727-F20A-E477C76369EC}"/>
              </a:ext>
            </a:extLst>
          </p:cNvPr>
          <p:cNvSpPr txBox="1"/>
          <p:nvPr/>
        </p:nvSpPr>
        <p:spPr>
          <a:xfrm>
            <a:off x="299405" y="3447288"/>
            <a:ext cx="4466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8C7FA"/>
                </a:solidFill>
              </a:rPr>
              <a:t>Under Supervision:</a:t>
            </a:r>
            <a:br>
              <a:rPr lang="en-US" dirty="0">
                <a:solidFill>
                  <a:srgbClr val="A8C7FA"/>
                </a:solidFill>
              </a:rPr>
            </a:br>
            <a:r>
              <a:rPr lang="en-US" dirty="0">
                <a:solidFill>
                  <a:srgbClr val="A8C7FA"/>
                </a:solidFill>
              </a:rPr>
              <a:t>Dr/ Safa El Askary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4868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0" y="248680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1168" y="28861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02642" y="112021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MedAI Insight is an end-to-end clinical intelligence dashboard unifying AI computer vision, NLP, and pharmaceutical decision support into a single platform — designed for the Egyptian healthcare context.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821448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821448"/>
            <a:ext cx="2697480" cy="914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9128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35180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257125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YOLOv12 Radiology Engine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4048" y="286386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chest X-ray pathology detection across 5 classes with 94.1% precision.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36392" y="1821448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36392" y="1821448"/>
            <a:ext cx="269748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36392" y="19128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27832" y="235180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27832" y="257125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Interpreter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246120" y="286386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Groq NLP transforms CBC/metabolic panels into dual-mode clinical narratives.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98464" y="1821448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98464" y="1821448"/>
            <a:ext cx="269748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98464" y="19128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89904" y="235180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III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89904" y="257125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MedAdvisor Egypt DSS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08192" y="286386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Neo4j + SCRE pharmaceutical substitute engine — 19,000+ EDA records.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74320" y="3906280"/>
            <a:ext cx="8595360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02920" y="39520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02920" y="429947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02920" y="446406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SotA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185416" y="39520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80.1%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2185416" y="429947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185416" y="446406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SotA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3867912" y="39520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70.3%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3867912" y="429947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867912" y="446406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Target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550408" y="39520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5550408" y="429947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550408" y="446406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SotA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232904" y="39520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7232904" y="429947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232904" y="446406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7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5AC3663-048D-4E64-9CED-50619BE99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07422"/>
            <a:ext cx="1905266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48677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248677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1168" y="248677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419109"/>
            <a:ext cx="4160520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419109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1784869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784869"/>
            <a:ext cx="54864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2336" y="1821445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Diagnostics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2336" y="2040901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X-rays, lab reports &amp; prescriptions managed across disconnected tools — no unified view.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2360941"/>
            <a:ext cx="4160520" cy="512064"/>
          </a:xfrm>
          <a:prstGeom prst="rect">
            <a:avLst/>
          </a:prstGeom>
          <a:solidFill>
            <a:srgbClr val="E8EEF4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2360941"/>
            <a:ext cx="54864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2336" y="2397517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Patient-Doctor Ratio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2336" y="2616973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healthcare load creates diagnostic bottlenecks, delaying life-saving treatments.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2937013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2937013"/>
            <a:ext cx="54864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2336" y="2973589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Unavailability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02336" y="3193045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restrictions cause frequent brand-name shortages at the point of dispensing.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3513085"/>
            <a:ext cx="4160520" cy="512064"/>
          </a:xfrm>
          <a:prstGeom prst="rect">
            <a:avLst/>
          </a:prstGeom>
          <a:solidFill>
            <a:srgbClr val="E8EEF4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" y="3513085"/>
            <a:ext cx="54864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2336" y="3549661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Lab Interpretation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02336" y="3769117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 analysis remains manual, slow, and prone to clinical miscommunication.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09160" y="1419109"/>
            <a:ext cx="416052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09160" y="1419109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HOW MedAI ADDRESSES THEM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709160" y="1784869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09160" y="1784869"/>
            <a:ext cx="54864" cy="5120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28032" y="1821445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28032" y="2040901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radiology, lab, and pharma modules into one intelligent interface.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09160" y="2360941"/>
            <a:ext cx="4160520" cy="512064"/>
          </a:xfrm>
          <a:prstGeom prst="rect">
            <a:avLst/>
          </a:prstGeom>
          <a:solidFill>
            <a:srgbClr val="E8EEF4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09160" y="2360941"/>
            <a:ext cx="54864" cy="5120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28032" y="2397517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Egypt-Localized AI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828032" y="2616973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EDA-compliant Neo4j knowledge graph ensures market-relevant, legally approved outputs.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709160" y="2937013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09160" y="2937013"/>
            <a:ext cx="54864" cy="5120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28032" y="2973589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828032" y="3193045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clinicians from low-level tasks — enabling focus on high-level patient care.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709160" y="3513085"/>
            <a:ext cx="4160520" cy="512064"/>
          </a:xfrm>
          <a:prstGeom prst="rect">
            <a:avLst/>
          </a:prstGeom>
          <a:solidFill>
            <a:srgbClr val="E8EEF4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709160" y="3513085"/>
            <a:ext cx="54864" cy="5120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28032" y="3549661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Speed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828032" y="3769117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inference enables deployment without disrupting clinical workflow.</a:t>
            </a:r>
            <a:endParaRPr lang="en-US" sz="11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2B0DF18-A7B1-B406-8B1F-FC437B412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07422"/>
            <a:ext cx="1905266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9182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259182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1168" y="25918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1168" y="66151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Goals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1246734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246734"/>
            <a:ext cx="2697480" cy="7315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374750"/>
            <a:ext cx="402336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3747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96112" y="140218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Detection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183195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YOLOv12s model detecting pulmonary anomalies in chest X-rays with ≥90% precision threshold.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36392" y="1235862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36392" y="1235862"/>
            <a:ext cx="269748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73552" y="1363878"/>
            <a:ext cx="402336" cy="40233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73552" y="136387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758184" y="139131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Translation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73552" y="182107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lab document interpretation into dual-mode summaries for clinicians and patients.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98464" y="1218996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98464" y="1218996"/>
            <a:ext cx="269748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35624" y="1347012"/>
            <a:ext cx="402336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35624" y="13470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20256" y="13744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Localization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35624" y="180421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Egyptian medication shortages via EDA-compliant bioequivalent substitute recommender.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467612" y="2790342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467612" y="2790342"/>
            <a:ext cx="2697480" cy="7315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604772" y="2918358"/>
            <a:ext cx="402336" cy="402336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04772" y="291835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089404" y="294579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Inference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604772" y="337555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sub-second processing for computer vision tasks — enabling real-time clinical use.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406518" y="2790342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406518" y="2790342"/>
            <a:ext cx="2697480" cy="731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43678" y="2918358"/>
            <a:ext cx="402336" cy="40233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43678" y="291835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028310" y="294579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Interface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543678" y="337555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disparate clinical tools into a single Streamlit dashboard, reducing cognitive load.</a:t>
            </a:r>
            <a:endParaRPr lang="en-US" sz="11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FF208AC-4AB1-FB1F-E991-67EF9E553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07422"/>
            <a:ext cx="1905266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9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9189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259189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1168" y="259189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1168" y="661525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IDSS — End-to-End Data Flow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6032" y="1054717"/>
            <a:ext cx="5212080" cy="2606040"/>
          </a:xfrm>
          <a:prstGeom prst="rect">
            <a:avLst/>
          </a:prstGeom>
          <a:solidFill>
            <a:srgbClr val="F8FAFF"/>
          </a:solidFill>
          <a:ln w="12700">
            <a:solidFill>
              <a:srgbClr val="E8EEF4"/>
            </a:solidFill>
            <a:prstDash val="solid"/>
          </a:ln>
        </p:spPr>
      </p:sp>
      <p:pic>
        <p:nvPicPr>
          <p:cNvPr id="8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0680" y="1082149"/>
            <a:ext cx="5101731" cy="339982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69280" y="1054717"/>
            <a:ext cx="3246120" cy="2743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0" y="1054717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0" y="1402189"/>
            <a:ext cx="32461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669280" y="1402189"/>
            <a:ext cx="54864" cy="33832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60720" y="1402189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Engine: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967728" y="1402189"/>
            <a:ext cx="1874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YOLOv12s (Ultralytics 8.2)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669280" y="1777093"/>
            <a:ext cx="3246120" cy="33832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69280" y="1777093"/>
            <a:ext cx="54864" cy="3383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60720" y="1777093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Reasoning: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967728" y="1777093"/>
            <a:ext cx="1874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LPU™ — Llama 3.3 70B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669280" y="2151997"/>
            <a:ext cx="32461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669280" y="2151997"/>
            <a:ext cx="54864" cy="3383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60720" y="2151997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DSS: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967728" y="2151997"/>
            <a:ext cx="1874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AuraDB + SCRE Engine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669280" y="2526901"/>
            <a:ext cx="3246120" cy="33832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669280" y="2526901"/>
            <a:ext cx="54864" cy="338328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760720" y="2526901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967728" y="2526901"/>
            <a:ext cx="1874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Framer Motion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669280" y="2901805"/>
            <a:ext cx="32461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669280" y="2901805"/>
            <a:ext cx="54864" cy="33832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760720" y="2901805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967728" y="2901805"/>
            <a:ext cx="1874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(Node.js)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669280" y="3276709"/>
            <a:ext cx="3246120" cy="33832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669280" y="3276709"/>
            <a:ext cx="54864" cy="3383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760720" y="3276709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967728" y="3276709"/>
            <a:ext cx="1874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— Zero Retention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320040" y="3733909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650D665-DADF-A490-AE2D-65EE7E57CF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207422"/>
            <a:ext cx="1905266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48676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248676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1168" y="248676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— The Perception–Extraction–Reasoning Loop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28600" y="1071636"/>
            <a:ext cx="1115568" cy="10058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28600" y="1071636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" y="1327668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28600" y="1730004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via UI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44168" y="1364244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476756" y="1071636"/>
            <a:ext cx="1115568" cy="10058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476756" y="1071636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476756" y="1327668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476756" y="1730004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vs Doc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92324" y="1364244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24912" y="1071636"/>
            <a:ext cx="1115568" cy="10058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724912" y="1071636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24912" y="1327668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724912" y="1730004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/ OCR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840480" y="1364244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973068" y="1071636"/>
            <a:ext cx="1115568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973068" y="1071636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973068" y="1327668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973068" y="1730004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or Groq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88636" y="1364244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▶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221224" y="1071636"/>
            <a:ext cx="1115568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221224" y="1071636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221224" y="1327668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221224" y="1730004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/ Entities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336792" y="1364244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▶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69380" y="1071636"/>
            <a:ext cx="1115568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69380" y="1071636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469380" y="1327668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69380" y="1730004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Narrative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584948" y="1364244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▶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717536" y="1071636"/>
            <a:ext cx="1115568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7717536" y="1071636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717536" y="1327668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717536" y="1730004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Badges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283465" y="2325756"/>
            <a:ext cx="8595360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9185" y="232575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LOOP — HOW THE AI REASONS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283465" y="2773812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283465" y="2773812"/>
            <a:ext cx="2697480" cy="3200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74905" y="27738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374905" y="313957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Layer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374905" y="335902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YOLOv12 backbone processes raw X-ray pixels, generating multi-scale feature maps identifying pathological patterns across 5 classes.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2980945" y="32035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→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3172970" y="2776992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3172970" y="2776992"/>
            <a:ext cx="269748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264410" y="2776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3264410" y="314275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Layer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3264410" y="336220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and NLP translate visual characters into clinical entities — Blood Glucose, Hemoglobin — providing structured facts for reasoning.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870450" y="320676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→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6057900" y="2773812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6057900" y="2773812"/>
            <a:ext cx="269748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149340" y="27738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6149340" y="313957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Layer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6149340" y="335902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 synthesizes visual patterns and textual facts into a structured, actionable clinical report for the clinician.</a:t>
            </a:r>
            <a:endParaRPr lang="en-US" sz="11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5F7F73FC-08B4-47CC-BD4B-7FDAA750B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07422"/>
            <a:ext cx="1905266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9189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259189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1168" y="259189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 — YOLOv12 Radiology Engine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1168" y="661525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Architecture &amp; Pathology Detection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6032" y="1054717"/>
            <a:ext cx="8631936" cy="2029968"/>
          </a:xfrm>
          <a:prstGeom prst="rect">
            <a:avLst/>
          </a:prstGeom>
          <a:solidFill>
            <a:srgbClr val="F8FA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3690181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274320" y="3964501"/>
            <a:ext cx="1600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74320" y="4010221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Effusion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74320" y="4238821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93.8% accuracy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011680" y="3964501"/>
            <a:ext cx="16002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011680" y="4010221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Opacity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011680" y="4238821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91.2% accuracy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749040" y="3964501"/>
            <a:ext cx="160020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749040" y="4010221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749040" y="4238821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89.5% accuracy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5486400" y="3964501"/>
            <a:ext cx="1600200" cy="50292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486400" y="4010221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Nodule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486400" y="4238821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78.4% accuracy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7223760" y="3964501"/>
            <a:ext cx="16002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223760" y="4010221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Cardiomegaly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223760" y="4238821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 accuracy</a:t>
            </a:r>
            <a:endParaRPr lang="en-US" sz="8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18AD1F6-FC6A-307A-B0C5-C15C6E1A3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07422"/>
            <a:ext cx="1905266" cy="7144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97299AA-EEAD-55A5-F219-05DF61FE0D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" y="990709"/>
            <a:ext cx="8741093" cy="284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23">
            <a:extLst>
              <a:ext uri="{FF2B5EF4-FFF2-40B4-BE49-F238E27FC236}">
                <a16:creationId xmlns:a16="http://schemas.microsoft.com/office/drawing/2014/main" id="{1BE566D3-1F3E-A770-592C-88ABCC770002}"/>
              </a:ext>
            </a:extLst>
          </p:cNvPr>
          <p:cNvSpPr/>
          <p:nvPr/>
        </p:nvSpPr>
        <p:spPr>
          <a:xfrm>
            <a:off x="3364755" y="4326630"/>
            <a:ext cx="1631388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7" name="Shape 23">
            <a:extLst>
              <a:ext uri="{FF2B5EF4-FFF2-40B4-BE49-F238E27FC236}">
                <a16:creationId xmlns:a16="http://schemas.microsoft.com/office/drawing/2014/main" id="{5A0759D0-9D34-2880-E6DF-32C83E6DFDCD}"/>
              </a:ext>
            </a:extLst>
          </p:cNvPr>
          <p:cNvSpPr/>
          <p:nvPr/>
        </p:nvSpPr>
        <p:spPr>
          <a:xfrm>
            <a:off x="1791517" y="4326520"/>
            <a:ext cx="1364568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1308" t="4404" r="74923" b="81380"/>
          <a:stretch/>
        </p:blipFill>
        <p:spPr>
          <a:xfrm>
            <a:off x="1" y="0"/>
            <a:ext cx="1652954" cy="50070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" y="498591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144" y="498591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1168" y="610429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 — Training Protocol</a:t>
            </a:r>
            <a:endParaRPr lang="en-US" sz="22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66839F8E-9A68-3DA3-DD7D-4341331A2CCA}"/>
              </a:ext>
            </a:extLst>
          </p:cNvPr>
          <p:cNvSpPr/>
          <p:nvPr/>
        </p:nvSpPr>
        <p:spPr>
          <a:xfrm>
            <a:off x="215235" y="1183445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GB" sz="11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trained for 200 epochs using a weighted and annotated chest X-ray dataset to improve detection accuracy across different pulmonary pathologies.</a:t>
            </a:r>
            <a:endParaRPr lang="en-US" sz="1100" dirty="0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03A12030-D603-8B92-ADB2-4D03B48D5878}"/>
              </a:ext>
            </a:extLst>
          </p:cNvPr>
          <p:cNvSpPr/>
          <p:nvPr/>
        </p:nvSpPr>
        <p:spPr>
          <a:xfrm>
            <a:off x="215235" y="2052830"/>
            <a:ext cx="2697480" cy="160195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E274D08A-7505-67BF-0EC7-73C5C5ADFFCA}"/>
              </a:ext>
            </a:extLst>
          </p:cNvPr>
          <p:cNvSpPr/>
          <p:nvPr/>
        </p:nvSpPr>
        <p:spPr>
          <a:xfrm>
            <a:off x="215235" y="2052830"/>
            <a:ext cx="2697480" cy="914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AA15D51C-8758-1778-23B6-EF9573C711F5}"/>
              </a:ext>
            </a:extLst>
          </p:cNvPr>
          <p:cNvSpPr/>
          <p:nvPr/>
        </p:nvSpPr>
        <p:spPr>
          <a:xfrm>
            <a:off x="215235" y="214427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3B3528A7-C1FE-0338-BC9C-1AB19C64F698}"/>
              </a:ext>
            </a:extLst>
          </p:cNvPr>
          <p:cNvSpPr/>
          <p:nvPr/>
        </p:nvSpPr>
        <p:spPr>
          <a:xfrm>
            <a:off x="298586" y="239467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105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Learning Rate Schedule with Warm-up</a:t>
            </a:r>
            <a:endParaRPr lang="en-US" sz="105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2F8986F5-9EAE-838B-AD63-17AFE4A6BD39}"/>
              </a:ext>
            </a:extLst>
          </p:cNvPr>
          <p:cNvSpPr/>
          <p:nvPr/>
        </p:nvSpPr>
        <p:spPr>
          <a:xfrm>
            <a:off x="324963" y="2858909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GB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stabilize training by gradually increasing the learning rate at the beginning, then decreasing it smoothly during training for better convergence and accuracy.</a:t>
            </a:r>
            <a:endParaRPr lang="en-US" sz="90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F8ECA515-1ED3-B546-6B0D-22265584A9A8}"/>
              </a:ext>
            </a:extLst>
          </p:cNvPr>
          <p:cNvSpPr/>
          <p:nvPr/>
        </p:nvSpPr>
        <p:spPr>
          <a:xfrm>
            <a:off x="3077307" y="2052830"/>
            <a:ext cx="2697480" cy="160195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2497711A-1642-80F4-7C04-EE1B851B2865}"/>
              </a:ext>
            </a:extLst>
          </p:cNvPr>
          <p:cNvSpPr/>
          <p:nvPr/>
        </p:nvSpPr>
        <p:spPr>
          <a:xfrm>
            <a:off x="3077307" y="2052830"/>
            <a:ext cx="269748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0843310C-1B1F-8CEE-DA9B-37889CC4953B}"/>
              </a:ext>
            </a:extLst>
          </p:cNvPr>
          <p:cNvSpPr/>
          <p:nvPr/>
        </p:nvSpPr>
        <p:spPr>
          <a:xfrm>
            <a:off x="3077307" y="214427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7FB8A646-B897-A668-EB8E-8700EBC15603}"/>
              </a:ext>
            </a:extLst>
          </p:cNvPr>
          <p:cNvSpPr/>
          <p:nvPr/>
        </p:nvSpPr>
        <p:spPr>
          <a:xfrm>
            <a:off x="3141315" y="234543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Mixed-Precision (FP16) Training</a:t>
            </a:r>
            <a:endParaRPr lang="en-US" sz="1050" dirty="0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6CE12622-A521-8453-797E-0AC7A0B1CCEB}"/>
              </a:ext>
            </a:extLst>
          </p:cNvPr>
          <p:cNvSpPr/>
          <p:nvPr/>
        </p:nvSpPr>
        <p:spPr>
          <a:xfrm>
            <a:off x="3191607" y="2804045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GB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to maximize GPU utilization, reduce memory consumption, and accelerate the training process.</a:t>
            </a:r>
            <a:endParaRPr lang="en-US" sz="90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005EA0CF-DFBE-8437-33A5-427F4EA1FDEC}"/>
              </a:ext>
            </a:extLst>
          </p:cNvPr>
          <p:cNvSpPr/>
          <p:nvPr/>
        </p:nvSpPr>
        <p:spPr>
          <a:xfrm>
            <a:off x="5939379" y="2052830"/>
            <a:ext cx="2697480" cy="160195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C70DAC1E-82BA-DD12-99CD-E47EE040DA37}"/>
              </a:ext>
            </a:extLst>
          </p:cNvPr>
          <p:cNvSpPr/>
          <p:nvPr/>
        </p:nvSpPr>
        <p:spPr>
          <a:xfrm>
            <a:off x="5939379" y="2052830"/>
            <a:ext cx="269748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A1215392-1777-E75B-00AD-F1C827D4A2DD}"/>
              </a:ext>
            </a:extLst>
          </p:cNvPr>
          <p:cNvSpPr/>
          <p:nvPr/>
        </p:nvSpPr>
        <p:spPr>
          <a:xfrm>
            <a:off x="5939379" y="214427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6984FA3E-085D-A9A0-99D0-F5FDEEA5A9C6}"/>
              </a:ext>
            </a:extLst>
          </p:cNvPr>
          <p:cNvSpPr/>
          <p:nvPr/>
        </p:nvSpPr>
        <p:spPr>
          <a:xfrm>
            <a:off x="6026247" y="2340163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Augmentation</a:t>
            </a:r>
            <a:endParaRPr lang="en-US" sz="105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5D018A8F-538A-CC40-73D0-BABE06E18942}"/>
              </a:ext>
            </a:extLst>
          </p:cNvPr>
          <p:cNvSpPr/>
          <p:nvPr/>
        </p:nvSpPr>
        <p:spPr>
          <a:xfrm>
            <a:off x="6049107" y="2801935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GB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improve model robustness across different image resolutions and varying X-ray acquisition settings.</a:t>
            </a:r>
            <a:endParaRPr lang="en-US" sz="900" dirty="0"/>
          </a:p>
        </p:txBody>
      </p:sp>
      <p:sp>
        <p:nvSpPr>
          <p:cNvPr id="64" name="Text 4">
            <a:extLst>
              <a:ext uri="{FF2B5EF4-FFF2-40B4-BE49-F238E27FC236}">
                <a16:creationId xmlns:a16="http://schemas.microsoft.com/office/drawing/2014/main" id="{6E4342A0-19B9-FEF9-3E55-83D154D860E8}"/>
              </a:ext>
            </a:extLst>
          </p:cNvPr>
          <p:cNvSpPr/>
          <p:nvPr/>
        </p:nvSpPr>
        <p:spPr>
          <a:xfrm>
            <a:off x="201168" y="1618490"/>
            <a:ext cx="19983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GB" sz="1400" dirty="0"/>
              <a:t>Key Training Techniques</a:t>
            </a:r>
            <a:endParaRPr lang="en-US" sz="1400" dirty="0"/>
          </a:p>
        </p:txBody>
      </p:sp>
      <p:sp>
        <p:nvSpPr>
          <p:cNvPr id="66" name="Shape 23">
            <a:extLst>
              <a:ext uri="{FF2B5EF4-FFF2-40B4-BE49-F238E27FC236}">
                <a16:creationId xmlns:a16="http://schemas.microsoft.com/office/drawing/2014/main" id="{AF25C0C4-5664-8F8C-5C04-87C69D39D9D9}"/>
              </a:ext>
            </a:extLst>
          </p:cNvPr>
          <p:cNvSpPr/>
          <p:nvPr/>
        </p:nvSpPr>
        <p:spPr>
          <a:xfrm>
            <a:off x="288387" y="4326520"/>
            <a:ext cx="1364568" cy="74980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7" name="Text 24">
            <a:extLst>
              <a:ext uri="{FF2B5EF4-FFF2-40B4-BE49-F238E27FC236}">
                <a16:creationId xmlns:a16="http://schemas.microsoft.com/office/drawing/2014/main" id="{A5877519-7965-0ABB-E930-C8AEE1906F5D}"/>
              </a:ext>
            </a:extLst>
          </p:cNvPr>
          <p:cNvSpPr/>
          <p:nvPr/>
        </p:nvSpPr>
        <p:spPr>
          <a:xfrm>
            <a:off x="324963" y="44970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Flipping</a:t>
            </a:r>
            <a:endParaRPr lang="en-US" sz="1400" dirty="0"/>
          </a:p>
        </p:txBody>
      </p:sp>
      <p:sp>
        <p:nvSpPr>
          <p:cNvPr id="82" name="Text 4">
            <a:extLst>
              <a:ext uri="{FF2B5EF4-FFF2-40B4-BE49-F238E27FC236}">
                <a16:creationId xmlns:a16="http://schemas.microsoft.com/office/drawing/2014/main" id="{D617890D-CE8A-C5CF-EF69-96457822AAB8}"/>
              </a:ext>
            </a:extLst>
          </p:cNvPr>
          <p:cNvSpPr/>
          <p:nvPr/>
        </p:nvSpPr>
        <p:spPr>
          <a:xfrm>
            <a:off x="215235" y="3812239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GB" sz="1400" dirty="0"/>
              <a:t>Data Augmentation Methods</a:t>
            </a:r>
            <a:endParaRPr lang="en-US" sz="14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6EC12921-0AD6-F21B-40A0-5105E5453F9C}"/>
              </a:ext>
            </a:extLst>
          </p:cNvPr>
          <p:cNvSpPr/>
          <p:nvPr/>
        </p:nvSpPr>
        <p:spPr>
          <a:xfrm>
            <a:off x="6502790" y="44782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Flipping</a:t>
            </a:r>
            <a:endParaRPr lang="en-US" sz="1400" dirty="0"/>
          </a:p>
        </p:txBody>
      </p:sp>
      <p:sp>
        <p:nvSpPr>
          <p:cNvPr id="85" name="Text 24">
            <a:extLst>
              <a:ext uri="{FF2B5EF4-FFF2-40B4-BE49-F238E27FC236}">
                <a16:creationId xmlns:a16="http://schemas.microsoft.com/office/drawing/2014/main" id="{C08874FE-6273-F9A9-3732-88F0134E536A}"/>
              </a:ext>
            </a:extLst>
          </p:cNvPr>
          <p:cNvSpPr/>
          <p:nvPr/>
        </p:nvSpPr>
        <p:spPr>
          <a:xfrm>
            <a:off x="3392276" y="4485701"/>
            <a:ext cx="1728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Brightness and Contrast Variation</a:t>
            </a:r>
            <a:endParaRPr lang="en-US" sz="14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4A0019F6-29B2-620B-3EC1-00DF77C7B057}"/>
              </a:ext>
            </a:extLst>
          </p:cNvPr>
          <p:cNvSpPr/>
          <p:nvPr/>
        </p:nvSpPr>
        <p:spPr>
          <a:xfrm>
            <a:off x="1742283" y="44782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Augmentation</a:t>
            </a:r>
            <a:endParaRPr lang="en-US" sz="1400" dirty="0"/>
          </a:p>
        </p:txBody>
      </p:sp>
      <p:sp>
        <p:nvSpPr>
          <p:cNvPr id="89" name="Text 4">
            <a:extLst>
              <a:ext uri="{FF2B5EF4-FFF2-40B4-BE49-F238E27FC236}">
                <a16:creationId xmlns:a16="http://schemas.microsoft.com/office/drawing/2014/main" id="{8DF92032-32DA-2298-C8F3-4F6102020895}"/>
              </a:ext>
            </a:extLst>
          </p:cNvPr>
          <p:cNvSpPr/>
          <p:nvPr/>
        </p:nvSpPr>
        <p:spPr>
          <a:xfrm>
            <a:off x="5162336" y="4315159"/>
            <a:ext cx="3355651" cy="731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GB" sz="11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augmentation techniques helped simulate real-world radiographic conditions and improved the model’s generalization capability.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51719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1308" t="4404" r="74923" b="81380"/>
          <a:stretch/>
        </p:blipFill>
        <p:spPr>
          <a:xfrm>
            <a:off x="1" y="0"/>
            <a:ext cx="1652954" cy="50070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" y="498591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144" y="498591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1168" y="610429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 — Clinical Significance of Output</a:t>
            </a:r>
            <a:endParaRPr lang="en-US" sz="22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66839F8E-9A68-3DA3-DD7D-4341331A2CCA}"/>
              </a:ext>
            </a:extLst>
          </p:cNvPr>
          <p:cNvSpPr/>
          <p:nvPr/>
        </p:nvSpPr>
        <p:spPr>
          <a:xfrm>
            <a:off x="137863" y="1208309"/>
            <a:ext cx="8595360" cy="877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GB" sz="11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engine is designed to assist radiologists rather than replace them. It provides visual annotations, pathology labels, and confidence scores to support clinical decision-making. </a:t>
            </a:r>
            <a:br>
              <a:rPr lang="en-GB" sz="11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GB" sz="11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High Risk badge is displayed, the system has identified imaging features strongly associated with acute pulmonary pathology.</a:t>
            </a:r>
            <a:endParaRPr lang="en-US" sz="1100" dirty="0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03A12030-D603-8B92-ADB2-4D03B48D5878}"/>
              </a:ext>
            </a:extLst>
          </p:cNvPr>
          <p:cNvSpPr/>
          <p:nvPr/>
        </p:nvSpPr>
        <p:spPr>
          <a:xfrm>
            <a:off x="215235" y="2858909"/>
            <a:ext cx="2697480" cy="160195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E274D08A-7505-67BF-0EC7-73C5C5ADFFCA}"/>
              </a:ext>
            </a:extLst>
          </p:cNvPr>
          <p:cNvSpPr/>
          <p:nvPr/>
        </p:nvSpPr>
        <p:spPr>
          <a:xfrm>
            <a:off x="215235" y="2858909"/>
            <a:ext cx="2697480" cy="914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AA15D51C-8758-1778-23B6-EF9573C711F5}"/>
              </a:ext>
            </a:extLst>
          </p:cNvPr>
          <p:cNvSpPr/>
          <p:nvPr/>
        </p:nvSpPr>
        <p:spPr>
          <a:xfrm>
            <a:off x="215235" y="2950349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3B3528A7-C1FE-0338-BC9C-1AB19C64F698}"/>
              </a:ext>
            </a:extLst>
          </p:cNvPr>
          <p:cNvSpPr/>
          <p:nvPr/>
        </p:nvSpPr>
        <p:spPr>
          <a:xfrm>
            <a:off x="298586" y="3200755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105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(High Risk) — Confidence &gt; 85%</a:t>
            </a:r>
            <a:endParaRPr lang="en-US" sz="105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2F8986F5-9EAE-838B-AD63-17AFE4A6BD39}"/>
              </a:ext>
            </a:extLst>
          </p:cNvPr>
          <p:cNvSpPr/>
          <p:nvPr/>
        </p:nvSpPr>
        <p:spPr>
          <a:xfrm>
            <a:off x="324963" y="366498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GB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clinical review is recommended.</a:t>
            </a:r>
            <a:endParaRPr lang="en-US" sz="90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F8ECA515-1ED3-B546-6B0D-22265584A9A8}"/>
              </a:ext>
            </a:extLst>
          </p:cNvPr>
          <p:cNvSpPr/>
          <p:nvPr/>
        </p:nvSpPr>
        <p:spPr>
          <a:xfrm>
            <a:off x="3077307" y="2858909"/>
            <a:ext cx="2697480" cy="160195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2497711A-1642-80F4-7C04-EE1B851B2865}"/>
              </a:ext>
            </a:extLst>
          </p:cNvPr>
          <p:cNvSpPr/>
          <p:nvPr/>
        </p:nvSpPr>
        <p:spPr>
          <a:xfrm>
            <a:off x="3077307" y="2858909"/>
            <a:ext cx="269748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0843310C-1B1F-8CEE-DA9B-37889CC4953B}"/>
              </a:ext>
            </a:extLst>
          </p:cNvPr>
          <p:cNvSpPr/>
          <p:nvPr/>
        </p:nvSpPr>
        <p:spPr>
          <a:xfrm>
            <a:off x="3077307" y="2950349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7FB8A646-B897-A668-EB8E-8700EBC15603}"/>
              </a:ext>
            </a:extLst>
          </p:cNvPr>
          <p:cNvSpPr/>
          <p:nvPr/>
        </p:nvSpPr>
        <p:spPr>
          <a:xfrm>
            <a:off x="3246470" y="3272150"/>
            <a:ext cx="235915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105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(Moderate Risk) — Confidence 60–85%</a:t>
            </a:r>
            <a:endParaRPr lang="en-US" sz="1050" dirty="0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6CE12622-A521-8453-797E-0AC7A0B1CCEB}"/>
              </a:ext>
            </a:extLst>
          </p:cNvPr>
          <p:cNvSpPr/>
          <p:nvPr/>
        </p:nvSpPr>
        <p:spPr>
          <a:xfrm>
            <a:off x="3191607" y="361012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GB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should be correlated with the patient’s clinical presentation.</a:t>
            </a:r>
            <a:endParaRPr lang="en-US" sz="90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005EA0CF-DFBE-8437-33A5-427F4EA1FDEC}"/>
              </a:ext>
            </a:extLst>
          </p:cNvPr>
          <p:cNvSpPr/>
          <p:nvPr/>
        </p:nvSpPr>
        <p:spPr>
          <a:xfrm>
            <a:off x="5939379" y="2858909"/>
            <a:ext cx="2697480" cy="160195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C70DAC1E-82BA-DD12-99CD-E47EE040DA37}"/>
              </a:ext>
            </a:extLst>
          </p:cNvPr>
          <p:cNvSpPr/>
          <p:nvPr/>
        </p:nvSpPr>
        <p:spPr>
          <a:xfrm>
            <a:off x="5939379" y="2858909"/>
            <a:ext cx="269748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A1215392-1777-E75B-00AD-F1C827D4A2DD}"/>
              </a:ext>
            </a:extLst>
          </p:cNvPr>
          <p:cNvSpPr/>
          <p:nvPr/>
        </p:nvSpPr>
        <p:spPr>
          <a:xfrm>
            <a:off x="5939379" y="2950349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6984FA3E-085D-A9A0-99D0-F5FDEEA5A9C6}"/>
              </a:ext>
            </a:extLst>
          </p:cNvPr>
          <p:cNvSpPr/>
          <p:nvPr/>
        </p:nvSpPr>
        <p:spPr>
          <a:xfrm>
            <a:off x="6026247" y="314624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105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(Low/Clear Risk) — Confidence &lt; 60% or no detection</a:t>
            </a:r>
            <a:endParaRPr lang="en-US" sz="105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5D018A8F-538A-CC40-73D0-BABE06E18942}"/>
              </a:ext>
            </a:extLst>
          </p:cNvPr>
          <p:cNvSpPr/>
          <p:nvPr/>
        </p:nvSpPr>
        <p:spPr>
          <a:xfrm>
            <a:off x="6049107" y="360801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GB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follow-up is generally sufficient.</a:t>
            </a:r>
            <a:endParaRPr lang="en-US" sz="900" dirty="0"/>
          </a:p>
        </p:txBody>
      </p:sp>
      <p:sp>
        <p:nvSpPr>
          <p:cNvPr id="64" name="Text 4">
            <a:extLst>
              <a:ext uri="{FF2B5EF4-FFF2-40B4-BE49-F238E27FC236}">
                <a16:creationId xmlns:a16="http://schemas.microsoft.com/office/drawing/2014/main" id="{6E4342A0-19B9-FEF9-3E55-83D154D860E8}"/>
              </a:ext>
            </a:extLst>
          </p:cNvPr>
          <p:cNvSpPr/>
          <p:nvPr/>
        </p:nvSpPr>
        <p:spPr>
          <a:xfrm>
            <a:off x="137863" y="2322581"/>
            <a:ext cx="80143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GB" sz="1400" dirty="0"/>
              <a:t>The confidence score acts as a Certainty Index, helping clinicians estimate the reliability of the AI prediction.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46732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33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48675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248675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1168" y="248675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 — Training Convergence &amp; Confusion Matrix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1168" y="651011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200-Epoch Training Protocol · Held-Out Validation Set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6032" y="1044203"/>
            <a:ext cx="4846320" cy="1353312"/>
          </a:xfrm>
          <a:prstGeom prst="rect">
            <a:avLst/>
          </a:prstGeom>
          <a:solidFill>
            <a:srgbClr val="F8FAFF"/>
          </a:solidFill>
          <a:ln w="12700">
            <a:solidFill>
              <a:srgbClr val="E8EEF4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71634"/>
            <a:ext cx="4119004" cy="24478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" y="2415803"/>
            <a:ext cx="4709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5184648" y="1016771"/>
            <a:ext cx="3639312" cy="1536192"/>
          </a:xfrm>
          <a:prstGeom prst="rect">
            <a:avLst/>
          </a:prstGeom>
          <a:solidFill>
            <a:srgbClr val="F8FAFF"/>
          </a:solidFill>
          <a:ln w="12700">
            <a:solidFill>
              <a:srgbClr val="E8EEF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611" y="1219776"/>
            <a:ext cx="5468027" cy="22539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21808" y="3473772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56032" y="3720660"/>
            <a:ext cx="8631936" cy="160020"/>
          </a:xfrm>
          <a:prstGeom prst="rect">
            <a:avLst/>
          </a:prstGeom>
          <a:solidFill>
            <a:srgbClr val="1A237E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10896" y="3720660"/>
            <a:ext cx="1938528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322576" y="3720660"/>
            <a:ext cx="1755648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MedAI Result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151376" y="3720660"/>
            <a:ext cx="1938528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Benchmark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163056" y="3720660"/>
            <a:ext cx="270662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56032" y="3880680"/>
            <a:ext cx="8631936" cy="160020"/>
          </a:xfrm>
          <a:prstGeom prst="rect">
            <a:avLst/>
          </a:prstGeom>
          <a:solidFill>
            <a:srgbClr val="E8EEF4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10896" y="3880680"/>
            <a:ext cx="1938528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2322576" y="3880680"/>
            <a:ext cx="1755648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151376" y="3880680"/>
            <a:ext cx="1938528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91.0%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163056" y="3880680"/>
            <a:ext cx="270662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256032" y="4040700"/>
            <a:ext cx="8631936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10896" y="4040700"/>
            <a:ext cx="1938528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2322576" y="4040700"/>
            <a:ext cx="1755648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70.3%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151376" y="4040700"/>
            <a:ext cx="1938528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72.0%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163056" y="4040700"/>
            <a:ext cx="270662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Target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256032" y="4200720"/>
            <a:ext cx="8631936" cy="160020"/>
          </a:xfrm>
          <a:prstGeom prst="rect">
            <a:avLst/>
          </a:prstGeom>
          <a:solidFill>
            <a:srgbClr val="E8EEF4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10896" y="4200720"/>
            <a:ext cx="1938528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2322576" y="4200720"/>
            <a:ext cx="1755648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80.1%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151376" y="4200720"/>
            <a:ext cx="1938528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78.0%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163056" y="4200720"/>
            <a:ext cx="270662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256032" y="4360740"/>
            <a:ext cx="8631936" cy="1600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310896" y="4360740"/>
            <a:ext cx="1938528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2322576" y="4360740"/>
            <a:ext cx="1755648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4151376" y="4360740"/>
            <a:ext cx="1938528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163056" y="4360740"/>
            <a:ext cx="270662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</a:t>
            </a:r>
            <a:endParaRPr lang="en-US" sz="11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39DFF2B-8DBC-E094-85D8-D3F3476F59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2904" y="207422"/>
            <a:ext cx="1905266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30" y="87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9189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259189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1168" y="259189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— Multimodal Lab Interpreter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1168" y="661525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Groq NLP Pipeline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6032" y="1054717"/>
            <a:ext cx="4160520" cy="2606040"/>
          </a:xfrm>
          <a:prstGeom prst="rect">
            <a:avLst/>
          </a:prstGeom>
          <a:solidFill>
            <a:srgbClr val="F8FAFF"/>
          </a:solidFill>
          <a:ln w="12700">
            <a:solidFill>
              <a:srgbClr val="E8EEF4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82148"/>
            <a:ext cx="4114800" cy="34898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" y="3688189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4636008" y="1201021"/>
            <a:ext cx="4251960" cy="274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36008" y="1201021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PROCESSING PIPELINE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36008" y="1548493"/>
            <a:ext cx="42519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36008" y="1548493"/>
            <a:ext cx="274320" cy="4297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36008" y="1548493"/>
            <a:ext cx="274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956048" y="1575925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56048" y="1767949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lab values from patient headers, logos &amp; admin metadata.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36008" y="2023981"/>
            <a:ext cx="4251960" cy="42976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36008" y="2023981"/>
            <a:ext cx="274320" cy="4297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36008" y="2023981"/>
            <a:ext cx="274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956048" y="2051413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Mapping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956048" y="2243437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extracted values to standardized medical ontology across formats.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636008" y="2499469"/>
            <a:ext cx="42519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636008" y="2499469"/>
            <a:ext cx="274320" cy="4297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36008" y="2499469"/>
            <a:ext cx="274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956048" y="2526901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956048" y="2718925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each value against age/gender-specific reference ranges.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636008" y="2974957"/>
            <a:ext cx="4251960" cy="42976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636008" y="2974957"/>
            <a:ext cx="274320" cy="4297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636008" y="2974957"/>
            <a:ext cx="274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956048" y="3002389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Generation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956048" y="3194413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1M-context LLM explains clinical significance of abnormal findings.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663440" y="3721608"/>
            <a:ext cx="2011680" cy="630936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709160" y="37216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MODE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Terminology-rich · ICD-coded · Differential diagnoses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858000" y="3758183"/>
            <a:ext cx="2011680" cy="582059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903720" y="37581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MODE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 · Explains symptoms · Next steps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4681728" y="47731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42EAD22-0DB3-E2B2-25D4-C3B230ABF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207422"/>
            <a:ext cx="1905266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48676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248676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1168" y="24867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— Lab Interpreter Sequence Diagram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1168" y="65101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Operational Workflow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6032" y="1044204"/>
            <a:ext cx="8631936" cy="2651760"/>
          </a:xfrm>
          <a:prstGeom prst="rect">
            <a:avLst/>
          </a:prstGeom>
          <a:solidFill>
            <a:srgbClr val="F8FA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371425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151D63-9245-577A-6D85-1C5F32643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07422"/>
            <a:ext cx="1905266" cy="714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C3BCA5-D200-49B3-B444-4C0341747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656" y="948298"/>
            <a:ext cx="8742311" cy="35006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69697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269697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1168" y="269697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III — MedAdvisor Pharmaceutical DSS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1168" y="672033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Egypt-Localized Neuro-Symbolic Drug Substitution Engine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6032" y="1065225"/>
            <a:ext cx="8631936" cy="2286000"/>
          </a:xfrm>
          <a:prstGeom prst="rect">
            <a:avLst/>
          </a:prstGeom>
          <a:solidFill>
            <a:srgbClr val="F8FAFF"/>
          </a:solidFill>
          <a:ln w="12700">
            <a:solidFill>
              <a:srgbClr val="E8EEF4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088084"/>
            <a:ext cx="8595360" cy="341917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74B4594-3B2F-8CDB-64A0-6E19DBDDB0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207422"/>
            <a:ext cx="1905266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9185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259185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1168" y="259185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III — SCRE Engine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1168" y="661521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Clinical Reasoning Engine · 19,000+ EDA Records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293283" y="1319889"/>
            <a:ext cx="4390738" cy="27432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93283" y="1319889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SCRE — 3 DETERMINISTIC RULES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93283" y="1667361"/>
            <a:ext cx="4390738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FE0B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93283" y="1667361"/>
            <a:ext cx="502920" cy="71323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93283" y="1895961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887643" y="1722225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Query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887643" y="1978257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Neo4j: Drug → BELONGS_TO → Category + Drug → MANUFACTURED_BY → Company. Returns exact match with dosage &amp; manufacturer.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93283" y="2444601"/>
            <a:ext cx="4390738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FE0B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293283" y="2444601"/>
            <a:ext cx="502920" cy="71323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93283" y="2673201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887643" y="2499465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 Traversal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887643" y="2755497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alternative drugs via 'BELONGS_TO' edges. Geographic filter: Company.region = 'Middle East' ensures local availability.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293283" y="3221841"/>
            <a:ext cx="4390738" cy="824177"/>
          </a:xfrm>
          <a:prstGeom prst="rect">
            <a:avLst/>
          </a:prstGeom>
          <a:solidFill>
            <a:srgbClr val="FFFFFF"/>
          </a:solidFill>
          <a:ln w="19050">
            <a:solidFill>
              <a:srgbClr val="FFE0B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293283" y="3221841"/>
            <a:ext cx="502920" cy="824176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93283" y="3450441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887643" y="3276705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String Matching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887643" y="3532737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exact match: CONTAINS search for partial name matches. Reports 'Likely Shortage' and pivots to substitute retrieval.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09160" y="1054713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NEO4J KNOWLEDGE GRAPH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852160" y="1511913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269480" y="1511913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940DC0B-06D1-678F-E443-6412663DA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07422"/>
            <a:ext cx="1905266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" y="-68782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75104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75104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1168" y="17510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— Clinical Dashboard &amp; Ethics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1168" y="577440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Under Pressure · Data Security · Ethical AI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6032" y="970631"/>
            <a:ext cx="5029200" cy="3374239"/>
          </a:xfrm>
          <a:prstGeom prst="rect">
            <a:avLst/>
          </a:prstGeom>
          <a:solidFill>
            <a:srgbClr val="0A0F1E"/>
          </a:solidFill>
          <a:ln w="19050">
            <a:solidFill>
              <a:srgbClr val="283593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979776"/>
            <a:ext cx="4983480" cy="33742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" y="3213906"/>
            <a:ext cx="4892040" cy="222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5532120" y="970632"/>
            <a:ext cx="3364992" cy="2743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532120" y="970632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PRINCIPLES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532120" y="1308960"/>
            <a:ext cx="33649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532120" y="1308960"/>
            <a:ext cx="54864" cy="365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41848" y="1336392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Cognitive Load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641848" y="1500984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dashboard — no context switching between tools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532120" y="1720440"/>
            <a:ext cx="3364992" cy="36576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532120" y="1720440"/>
            <a:ext cx="54864" cy="365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41848" y="1747872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Red/Amber/Green Cues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641848" y="1912464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Traffic-light risk badges for immediate situational awareness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532120" y="2131920"/>
            <a:ext cx="33649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532120" y="2131920"/>
            <a:ext cx="54864" cy="365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641848" y="2159352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641848" y="2323944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indicators prevent premature interaction during inference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532120" y="2543400"/>
            <a:ext cx="3364992" cy="36576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532120" y="2543400"/>
            <a:ext cx="54864" cy="365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641848" y="2570832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641848" y="2735424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elements meet accessibility contrast &amp; size requirements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16DD279-8794-6220-DA3F-AEE7959E7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734" y="132409"/>
            <a:ext cx="1905266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218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48675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248675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1168" y="248675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 Roadmap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1168" y="651011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C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Phases · Q3 2026 — Q3 2027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2232923"/>
            <a:ext cx="8229600" cy="6400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2068331"/>
            <a:ext cx="329184" cy="329184"/>
          </a:xfrm>
          <a:prstGeom prst="lin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206833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70432" y="1327667"/>
            <a:ext cx="54864" cy="74066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1126499"/>
            <a:ext cx="1508760" cy="1106424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7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126499"/>
            <a:ext cx="1508760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1126499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Q3 2026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6928" y="1419107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6928" y="1784867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medical-grade DICOM file processing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34056" y="2068331"/>
            <a:ext cx="329184" cy="329184"/>
          </a:xfrm>
          <a:prstGeom prst="lin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34056" y="206833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862072" y="2397515"/>
            <a:ext cx="54864" cy="740664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40280" y="2443235"/>
            <a:ext cx="1508760" cy="1164722"/>
          </a:xfrm>
          <a:prstGeom prst="rect">
            <a:avLst/>
          </a:prstGeom>
          <a:solidFill>
            <a:srgbClr val="FFFFFF"/>
          </a:solidFill>
          <a:ln w="19050">
            <a:solidFill>
              <a:srgbClr val="3949A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240280" y="2443235"/>
            <a:ext cx="1508760" cy="2560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58568" y="2443235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Q4 2026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258568" y="2693557"/>
            <a:ext cx="275486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trend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258568" y="3101603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lab analysis for longitudinal monitoring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425696" y="2068331"/>
            <a:ext cx="329184" cy="329184"/>
          </a:xfrm>
          <a:prstGeom prst="lin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25696" y="206833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53712" y="1327667"/>
            <a:ext cx="54864" cy="7406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31920" y="1126499"/>
            <a:ext cx="1508760" cy="1106424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931920" y="1126499"/>
            <a:ext cx="150876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50208" y="1126499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Q1 2027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950208" y="1419107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r>
              <a:rPr lang="en-US" sz="1100" dirty="0"/>
              <a:t> </a:t>
            </a: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950208" y="1784867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Low-bandwidth optimization for field deployment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117336" y="2068331"/>
            <a:ext cx="329184" cy="329184"/>
          </a:xfrm>
          <a:prstGeom prst="lin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17336" y="206833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245352" y="2397515"/>
            <a:ext cx="54864" cy="74066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623560" y="2443235"/>
            <a:ext cx="1508760" cy="10607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95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623560" y="2443235"/>
            <a:ext cx="1508760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41848" y="2443235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Q2 2027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641848" y="2735843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641848" y="3101603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MENA localization — Arabic UI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808976" y="2068331"/>
            <a:ext cx="329184" cy="329184"/>
          </a:xfrm>
          <a:prstGeom prst="lin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08976" y="206833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936992" y="1327667"/>
            <a:ext cx="54864" cy="7406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315200" y="1126499"/>
            <a:ext cx="1508760" cy="1106424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315200" y="1126499"/>
            <a:ext cx="150876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333488" y="1126499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Q3 2027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333488" y="1419107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7333488" y="1784867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study in partner hospitals</a:t>
            </a:r>
            <a:endParaRPr lang="en-US" sz="11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180EE06-A864-47F1-B51E-3F15CEDA7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07422"/>
            <a:ext cx="1905266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A445A7-FED3-1F72-F4DD-47C257913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" y="-68782"/>
            <a:ext cx="9141292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73D389-24DA-97CF-6BCD-3125F4275165}"/>
              </a:ext>
            </a:extLst>
          </p:cNvPr>
          <p:cNvSpPr txBox="1"/>
          <p:nvPr/>
        </p:nvSpPr>
        <p:spPr>
          <a:xfrm>
            <a:off x="1780247" y="1848863"/>
            <a:ext cx="55835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Thank You </a:t>
            </a:r>
            <a:r>
              <a:rPr lang="en-US" sz="4000" dirty="0">
                <a:sym typeface="Wingdings" panose="05000000000000000000" pitchFamily="2" charset="2"/>
              </a:rPr>
              <a:t>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5852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1296</Words>
  <Application>Microsoft Office PowerPoint</Application>
  <PresentationFormat>On-screen Show (16:9)</PresentationFormat>
  <Paragraphs>282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MedAI Insight — AIE424</dc:title>
  <dc:subject>PptxGenJS Presentation</dc:subject>
  <dc:creator>PptxGenJS</dc:creator>
  <cp:lastModifiedBy>Omar Kamel</cp:lastModifiedBy>
  <cp:revision>8</cp:revision>
  <dcterms:created xsi:type="dcterms:W3CDTF">2026-05-12T02:03:37Z</dcterms:created>
  <dcterms:modified xsi:type="dcterms:W3CDTF">2026-05-12T08:38:35Z</dcterms:modified>
</cp:coreProperties>
</file>